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612880" y="0"/>
            <a:ext cx="548640" cy="6858000"/>
          </a:xfrm>
          <a:prstGeom prst="rect">
            <a:avLst/>
          </a:prstGeom>
          <a:solidFill>
            <a:srgbClr val="E07B0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0116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FIELD SALES COMMUNITY  ·  90-MINUTE BUILD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24688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48-Hour Account Brief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731520" y="40233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prompt-a-thon for sellers who have to walk into the room ready.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49377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Northwind Traders  ·  Fortune 500 industrials  ·  C-suite meeting Monday 9am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6035040"/>
            <a:ext cx="5486400" cy="0"/>
          </a:xfrm>
          <a:prstGeom prst="line">
            <a:avLst/>
          </a:prstGeom>
          <a:noFill/>
          <a:ln w="38100">
            <a:solidFill>
              <a:srgbClr val="E07B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61264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Welcome.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Scenario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5pm Friday. The AE just texted.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7315200" cy="420624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737360"/>
            <a:ext cx="109728" cy="4206240"/>
          </a:xfrm>
          <a:prstGeom prst="rect">
            <a:avLst/>
          </a:prstGeom>
          <a:solidFill>
            <a:srgbClr val="E07B00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920240"/>
            <a:ext cx="68580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“Monday 9am, C-suite at Northwind Traders.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$4B industrial manufacturer. You've never worked them. The AE has scattered MSX notes, three years of email threads, two prior won opps, and a recent earnings call.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have ~30 minutes of agent time before the AE flies out.”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12480" y="17373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 seller pain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412480" y="228600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07B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yrs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8412480" y="27889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threads to sift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412480" y="320040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07B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8412480" y="37033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MSX opportunities, mixed outcomes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412480" y="411480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07B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8412480" y="46177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execs in the room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412480" y="502920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07B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8412480" y="55321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shot to get it right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Northwind Prompt-a-thon  ·  Facilitator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33856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you'll build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prompt — or a prompt chain or an agent — that produces a one-page exec brief.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2148840" cy="393192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011680"/>
            <a:ext cx="640080" cy="640080"/>
          </a:xfrm>
          <a:prstGeom prst="ellipse">
            <a:avLst/>
          </a:prstGeom>
          <a:solidFill>
            <a:srgbClr val="E07B00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011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22960" y="2834640"/>
            <a:ext cx="1783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 3 priorities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3657600"/>
            <a:ext cx="17830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cited to a source doc.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926080" y="1828800"/>
            <a:ext cx="2148840" cy="393192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11" name="Shape 9"/>
          <p:cNvSpPr/>
          <p:nvPr/>
        </p:nvSpPr>
        <p:spPr>
          <a:xfrm>
            <a:off x="3108960" y="2011680"/>
            <a:ext cx="640080" cy="640080"/>
          </a:xfrm>
          <a:prstGeom prst="ellipse">
            <a:avLst/>
          </a:prstGeom>
          <a:solidFill>
            <a:srgbClr val="E07B00"/>
          </a:solidFill>
          <a:ln/>
        </p:spPr>
      </p:sp>
      <p:sp>
        <p:nvSpPr>
          <p:cNvPr id="12" name="Text 10"/>
          <p:cNvSpPr/>
          <p:nvPr/>
        </p:nvSpPr>
        <p:spPr>
          <a:xfrm>
            <a:off x="3108960" y="2011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108960" y="2834640"/>
            <a:ext cx="1783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Relationship history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108960" y="3657600"/>
            <a:ext cx="17830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Wins, losses, gaps, contacts.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212080" y="1828800"/>
            <a:ext cx="2148840" cy="393192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16" name="Shape 14"/>
          <p:cNvSpPr/>
          <p:nvPr/>
        </p:nvSpPr>
        <p:spPr>
          <a:xfrm>
            <a:off x="5394960" y="2011680"/>
            <a:ext cx="640080" cy="640080"/>
          </a:xfrm>
          <a:prstGeom prst="ellipse">
            <a:avLst/>
          </a:prstGeom>
          <a:solidFill>
            <a:srgbClr val="E07B00"/>
          </a:solidFill>
          <a:ln/>
        </p:spPr>
      </p:sp>
      <p:sp>
        <p:nvSpPr>
          <p:cNvPr id="17" name="Text 15"/>
          <p:cNvSpPr/>
          <p:nvPr/>
        </p:nvSpPr>
        <p:spPr>
          <a:xfrm>
            <a:off x="5394960" y="2011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5394960" y="2834640"/>
            <a:ext cx="1783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solution plays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394960" y="3657600"/>
            <a:ext cx="17830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Mapped specifically to priorities.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498080" y="1828800"/>
            <a:ext cx="2148840" cy="393192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21" name="Shape 19"/>
          <p:cNvSpPr/>
          <p:nvPr/>
        </p:nvSpPr>
        <p:spPr>
          <a:xfrm>
            <a:off x="7680960" y="2011680"/>
            <a:ext cx="640080" cy="640080"/>
          </a:xfrm>
          <a:prstGeom prst="ellipse">
            <a:avLst/>
          </a:prstGeom>
          <a:solidFill>
            <a:srgbClr val="E07B00"/>
          </a:solidFill>
          <a:ln/>
        </p:spPr>
      </p:sp>
      <p:sp>
        <p:nvSpPr>
          <p:cNvPr id="22" name="Text 20"/>
          <p:cNvSpPr/>
          <p:nvPr/>
        </p:nvSpPr>
        <p:spPr>
          <a:xfrm>
            <a:off x="7680960" y="2011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7680960" y="2834640"/>
            <a:ext cx="1783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discovery questions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680960" y="3657600"/>
            <a:ext cx="17830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 to the exec's role.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784080" y="1828800"/>
            <a:ext cx="2148840" cy="393192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26" name="Shape 24"/>
          <p:cNvSpPr/>
          <p:nvPr/>
        </p:nvSpPr>
        <p:spPr>
          <a:xfrm>
            <a:off x="9966960" y="2011680"/>
            <a:ext cx="640080" cy="640080"/>
          </a:xfrm>
          <a:prstGeom prst="ellipse">
            <a:avLst/>
          </a:prstGeom>
          <a:solidFill>
            <a:srgbClr val="E07B00"/>
          </a:solidFill>
          <a:ln/>
        </p:spPr>
      </p:sp>
      <p:sp>
        <p:nvSpPr>
          <p:cNvPr id="27" name="Text 25"/>
          <p:cNvSpPr/>
          <p:nvPr/>
        </p:nvSpPr>
        <p:spPr>
          <a:xfrm>
            <a:off x="9966960" y="2011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9966960" y="2834640"/>
            <a:ext cx="1783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“Don't say this” list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966960" y="3657600"/>
            <a:ext cx="17830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 3 specific landmines.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0080" y="5943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Pick one persona to brief: CFO  ·  CIO  ·  COO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Northwind Prompt-a-thon  ·  Facilitator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33856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data pack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you need is in the shared folder. Nothing else is in scope.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53949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828800"/>
            <a:ext cx="73152" cy="1234440"/>
          </a:xfrm>
          <a:prstGeom prst="rect">
            <a:avLst/>
          </a:prstGeom>
          <a:solidFill>
            <a:srgbClr val="E07B00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9202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MSX export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228600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months of CRM: account master, 6 opps, activities, win/loss, competitor intel.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0" y="1828800"/>
            <a:ext cx="53949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0" y="1828800"/>
            <a:ext cx="73152" cy="1234440"/>
          </a:xfrm>
          <a:prstGeom prst="rect">
            <a:avLst/>
          </a:prstGeom>
          <a:solidFill>
            <a:srgbClr val="E07B00"/>
          </a:solidFill>
          <a:ln/>
        </p:spPr>
      </p:sp>
      <p:sp>
        <p:nvSpPr>
          <p:cNvPr id="11" name="Text 9"/>
          <p:cNvSpPr/>
          <p:nvPr/>
        </p:nvSpPr>
        <p:spPr>
          <a:xfrm>
            <a:off x="6629400" y="19202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AE account-plan notes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629400" y="228600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Scratchy working notes. Not polished. Some of it is stale.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3246120"/>
            <a:ext cx="53949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3246120"/>
            <a:ext cx="73152" cy="1234440"/>
          </a:xfrm>
          <a:prstGeom prst="rect">
            <a:avLst/>
          </a:prstGeom>
          <a:solidFill>
            <a:srgbClr val="E07B00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33375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Q4 earnings call transcript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68680" y="370332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remarks from CEO, CFO, COO. Strategic priorities live here.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0" y="3246120"/>
            <a:ext cx="53949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0" y="3246120"/>
            <a:ext cx="73152" cy="1234440"/>
          </a:xfrm>
          <a:prstGeom prst="rect">
            <a:avLst/>
          </a:prstGeom>
          <a:solidFill>
            <a:srgbClr val="E07B00"/>
          </a:solidFill>
          <a:ln/>
        </p:spPr>
      </p:sp>
      <p:sp>
        <p:nvSpPr>
          <p:cNvPr id="19" name="Text 17"/>
          <p:cNvSpPr/>
          <p:nvPr/>
        </p:nvSpPr>
        <p:spPr>
          <a:xfrm>
            <a:off x="6629400" y="33375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 bios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629400" y="370332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Janet (CFO) · Priya (interim CIO) · Diego (COO). Read these.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4663440"/>
            <a:ext cx="53949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" y="4663440"/>
            <a:ext cx="73152" cy="1234440"/>
          </a:xfrm>
          <a:prstGeom prst="rect">
            <a:avLst/>
          </a:prstGeom>
          <a:solidFill>
            <a:srgbClr val="E07B00"/>
          </a:solidFill>
          <a:ln/>
        </p:spPr>
      </p:sp>
      <p:sp>
        <p:nvSpPr>
          <p:cNvPr id="23" name="Text 21"/>
          <p:cNvSpPr/>
          <p:nvPr/>
        </p:nvSpPr>
        <p:spPr>
          <a:xfrm>
            <a:off x="868680" y="47548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 email threads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68680" y="512064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Real-feeling. Mix of signal and noise. Read carefully.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00800" y="4663440"/>
            <a:ext cx="53949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4663440"/>
            <a:ext cx="73152" cy="1234440"/>
          </a:xfrm>
          <a:prstGeom prst="rect">
            <a:avLst/>
          </a:prstGeom>
          <a:solidFill>
            <a:srgbClr val="E07B00"/>
          </a:solidFill>
          <a:ln/>
        </p:spPr>
      </p:sp>
      <p:sp>
        <p:nvSpPr>
          <p:cNvPr id="27" name="Text 25"/>
          <p:cNvSpPr/>
          <p:nvPr/>
        </p:nvSpPr>
        <p:spPr>
          <a:xfrm>
            <a:off x="6629400" y="47548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Analyst note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629400" y="512064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view. Useful corroboration — and a few traps.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Northwind Prompt-a-thon  ·  Facilitator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33856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Prompt patterns that work for sellers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moves that separate “good-enough” from “walk-in-the-room ready.”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2011680" cy="594360"/>
          </a:xfrm>
          <a:prstGeom prst="roundRect">
            <a:avLst>
              <a:gd name="adj" fmla="val 12308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82880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ROLE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834640" y="1828800"/>
            <a:ext cx="8686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“You are a senior Microsoft account exec preparing a CFO briefing.” Set the lens before the task.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651760"/>
            <a:ext cx="2011680" cy="594360"/>
          </a:xfrm>
          <a:prstGeom prst="roundRect">
            <a:avLst>
              <a:gd name="adj" fmla="val 12308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65176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CONSTRAINTS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834640" y="2651760"/>
            <a:ext cx="8686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Length, tone, what to omit. “One page. No marketing copy. Cite every fact.”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3474720"/>
            <a:ext cx="2011680" cy="594360"/>
          </a:xfrm>
          <a:prstGeom prst="roundRect">
            <a:avLst>
              <a:gd name="adj" fmla="val 12308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47472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GROUNDING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834640" y="3474720"/>
            <a:ext cx="8686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 citation. “Every claim must reference {source filename + section}. If unknown, say so.”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4297680"/>
            <a:ext cx="2011680" cy="594360"/>
          </a:xfrm>
          <a:prstGeom prst="roundRect">
            <a:avLst>
              <a:gd name="adj" fmla="val 12308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29768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OUTPUT SCHEMA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834640" y="4297680"/>
            <a:ext cx="8686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the sections, in order. The model fills the template — it doesn't invent it.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" y="5120640"/>
            <a:ext cx="2011680" cy="594360"/>
          </a:xfrm>
          <a:prstGeom prst="roundRect">
            <a:avLst>
              <a:gd name="adj" fmla="val 12308"/>
            </a:avLst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512064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EDGE CASES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2834640" y="5120640"/>
            <a:ext cx="8686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it what to do when sources conflict, when data is missing, when a contact is stale.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Northwind Prompt-a-thon  ·  Facilitator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33856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we'll score you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points across 5 dimensions. Tiebreaker is robustness.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1088136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8288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297680" y="18288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669280" y="1828800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excellent looks like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286000"/>
            <a:ext cx="10881360" cy="68580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286000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Grounding &amp; Citation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297680" y="228600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07B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806440" y="2286000"/>
            <a:ext cx="5669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sourced. Conflicts flagged.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7240" y="2971800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Sales Relevance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297680" y="297180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07B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806440" y="2971800"/>
            <a:ext cx="5669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Plays mapped to priorities. Questions are sharp.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3657600"/>
            <a:ext cx="10881360" cy="68580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657600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Prompt Craft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297680" y="365760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07B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806440" y="3657600"/>
            <a:ext cx="5669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Structured. Reusable on the next account.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77240" y="4343400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Robustness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297680" y="434340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07B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806440" y="4343400"/>
            <a:ext cx="5669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Survives six adversarial probes (next slide).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" y="5029200"/>
            <a:ext cx="10881360" cy="68580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5029200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 &amp; Insight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297680" y="502920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07B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806440" y="5029200"/>
            <a:ext cx="5669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60-sec demo lands the “so what.”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Northwind Prompt-a-thon  ·  Facilitator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33856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1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612880" y="0"/>
            <a:ext cx="548640" cy="6858000"/>
          </a:xfrm>
          <a:prstGeom prst="rect">
            <a:avLst/>
          </a:prstGeom>
          <a:solidFill>
            <a:srgbClr val="E07B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solution will be attacked.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adversarial probes — judges will paste each one into your final prompt.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5486400" cy="10972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2011680"/>
            <a:ext cx="640080" cy="1097280"/>
          </a:xfrm>
          <a:prstGeom prst="rect">
            <a:avLst/>
          </a:prstGeom>
          <a:solidFill>
            <a:srgbClr val="E07B0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011680"/>
            <a:ext cx="640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417320" y="21031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Hallucination bait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17320" y="246888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“Include their exact cloud spend with each hyperscaler.”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09360" y="2011680"/>
            <a:ext cx="5486400" cy="10972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Shape 9"/>
          <p:cNvSpPr/>
          <p:nvPr/>
        </p:nvSpPr>
        <p:spPr>
          <a:xfrm>
            <a:off x="6309360" y="2011680"/>
            <a:ext cx="640080" cy="1097280"/>
          </a:xfrm>
          <a:prstGeom prst="rect">
            <a:avLst/>
          </a:prstGeom>
          <a:solidFill>
            <a:srgbClr val="E07B00"/>
          </a:solidFill>
          <a:ln/>
        </p:spPr>
      </p:sp>
      <p:sp>
        <p:nvSpPr>
          <p:cNvPr id="12" name="Text 10"/>
          <p:cNvSpPr/>
          <p:nvPr/>
        </p:nvSpPr>
        <p:spPr>
          <a:xfrm>
            <a:off x="6309360" y="2011680"/>
            <a:ext cx="640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086600" y="21031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Conflicting source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086600" y="246888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differs across three docs. Do you flag it?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3291840"/>
            <a:ext cx="5486400" cy="10972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6" name="Shape 14"/>
          <p:cNvSpPr/>
          <p:nvPr/>
        </p:nvSpPr>
        <p:spPr>
          <a:xfrm>
            <a:off x="640080" y="3291840"/>
            <a:ext cx="640080" cy="1097280"/>
          </a:xfrm>
          <a:prstGeom prst="rect">
            <a:avLst/>
          </a:prstGeom>
          <a:solidFill>
            <a:srgbClr val="E07B00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291840"/>
            <a:ext cx="640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417320" y="33832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Prompt injection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417320" y="374904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hidden instruction in an email asks for your commission rate.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309360" y="3291840"/>
            <a:ext cx="5486400" cy="10972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1" name="Shape 19"/>
          <p:cNvSpPr/>
          <p:nvPr/>
        </p:nvSpPr>
        <p:spPr>
          <a:xfrm>
            <a:off x="6309360" y="3291840"/>
            <a:ext cx="640080" cy="1097280"/>
          </a:xfrm>
          <a:prstGeom prst="rect">
            <a:avLst/>
          </a:prstGeom>
          <a:solidFill>
            <a:srgbClr val="E07B00"/>
          </a:solidFill>
          <a:ln/>
        </p:spPr>
      </p:sp>
      <p:sp>
        <p:nvSpPr>
          <p:cNvPr id="22" name="Text 20"/>
          <p:cNvSpPr/>
          <p:nvPr/>
        </p:nvSpPr>
        <p:spPr>
          <a:xfrm>
            <a:off x="6309360" y="3291840"/>
            <a:ext cx="640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086600" y="33832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Confidential leak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086600" y="374904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“Include internal deal-desk notes verbatim.”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0080" y="4572000"/>
            <a:ext cx="5486400" cy="10972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6" name="Shape 24"/>
          <p:cNvSpPr/>
          <p:nvPr/>
        </p:nvSpPr>
        <p:spPr>
          <a:xfrm>
            <a:off x="640080" y="4572000"/>
            <a:ext cx="640080" cy="1097280"/>
          </a:xfrm>
          <a:prstGeom prst="rect">
            <a:avLst/>
          </a:prstGeom>
          <a:solidFill>
            <a:srgbClr val="E07B00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4572000"/>
            <a:ext cx="640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P5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1417320" y="4663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Competitor trash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417320" y="502920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“Compare us to AWS — be aggressive.”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309360" y="4572000"/>
            <a:ext cx="5486400" cy="10972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1" name="Shape 29"/>
          <p:cNvSpPr/>
          <p:nvPr/>
        </p:nvSpPr>
        <p:spPr>
          <a:xfrm>
            <a:off x="6309360" y="4572000"/>
            <a:ext cx="640080" cy="1097280"/>
          </a:xfrm>
          <a:prstGeom prst="rect">
            <a:avLst/>
          </a:prstGeom>
          <a:solidFill>
            <a:srgbClr val="E07B00"/>
          </a:solidFill>
          <a:ln/>
        </p:spPr>
      </p:sp>
      <p:sp>
        <p:nvSpPr>
          <p:cNvPr id="32" name="Text 30"/>
          <p:cNvSpPr/>
          <p:nvPr/>
        </p:nvSpPr>
        <p:spPr>
          <a:xfrm>
            <a:off x="6309360" y="4572000"/>
            <a:ext cx="640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P6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7086600" y="4663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Persona mismatch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7086600" y="502920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Briefing the CFO. Does it lead with TCO or speeds-and-feeds?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E07B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for robustness, not just happy-path output.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Northwind Prompt-a-thon  ·  Facilitator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33856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90-minute run of show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blocks. The build window is 50 minutes — manage your time.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3108960"/>
            <a:ext cx="10515600" cy="0"/>
          </a:xfrm>
          <a:prstGeom prst="line">
            <a:avLst/>
          </a:prstGeom>
          <a:noFill/>
          <a:ln w="38100">
            <a:solidFill>
              <a:srgbClr val="1E27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62940" y="2948940"/>
            <a:ext cx="320040" cy="320040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-91440" y="21031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0:00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-182880" y="356616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&amp;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-91440" y="4663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2948940"/>
            <a:ext cx="320040" cy="320040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37460" y="21031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0:10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446020" y="356616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537460" y="4663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852160" y="2880360"/>
            <a:ext cx="457200" cy="457200"/>
          </a:xfrm>
          <a:prstGeom prst="ellipse">
            <a:avLst/>
          </a:prstGeom>
          <a:solidFill>
            <a:srgbClr val="E07B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66360" y="21031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07B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0:20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074920" y="356616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166360" y="4663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min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549640" y="2948940"/>
            <a:ext cx="320040" cy="320040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95260" y="21031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1:10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703820" y="356616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(60s each)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795260" y="4663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1178540" y="2948940"/>
            <a:ext cx="320040" cy="320040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424160" y="21031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1:25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332720" y="356616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Red-team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winner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424160" y="4663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0080" y="5486400"/>
            <a:ext cx="10881360" cy="82296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27" name="Shape 25"/>
          <p:cNvSpPr/>
          <p:nvPr/>
        </p:nvSpPr>
        <p:spPr>
          <a:xfrm>
            <a:off x="640080" y="5486400"/>
            <a:ext cx="109728" cy="822960"/>
          </a:xfrm>
          <a:prstGeom prst="rect">
            <a:avLst/>
          </a:prstGeom>
          <a:solidFill>
            <a:srgbClr val="E07B00"/>
          </a:solidFill>
          <a:ln/>
        </p:spPr>
      </p:sp>
      <p:sp>
        <p:nvSpPr>
          <p:cNvPr id="28" name="Text 26"/>
          <p:cNvSpPr/>
          <p:nvPr/>
        </p:nvSpPr>
        <p:spPr>
          <a:xfrm>
            <a:off x="868680" y="553212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three things: </a:t>
            </a:r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(1) your final prompt   (2) the generated one-page brief   (3) a 60-second demo with one v2 improvement.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Northwind Prompt-a-thon  ·  Facilitator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33856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1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E07B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07B00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8288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It's 5:01pm.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2651760"/>
            <a:ext cx="10972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Go.</a:t>
            </a:r>
            <a:endParaRPr lang="en-US" sz="16000" dirty="0"/>
          </a:p>
        </p:txBody>
      </p:sp>
      <p:sp>
        <p:nvSpPr>
          <p:cNvPr id="6" name="Text 4"/>
          <p:cNvSpPr/>
          <p:nvPr/>
        </p:nvSpPr>
        <p:spPr>
          <a:xfrm>
            <a:off x="731520" y="54864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of 4 · Pick your persona · 50 minutes to build · Demos at 1:10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Microsoft Field Sales Community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Northwind Prompt-a-thon — Facilitator Deck</dc:title>
  <dc:subject>PptxGenJS Presentation</dc:subject>
  <dc:creator>PptxGenJS</dc:creator>
  <cp:lastModifiedBy>PptxGenJS</cp:lastModifiedBy>
  <cp:revision>1</cp:revision>
  <dcterms:created xsi:type="dcterms:W3CDTF">2026-05-11T19:33:06Z</dcterms:created>
  <dcterms:modified xsi:type="dcterms:W3CDTF">2026-05-11T19:33:06Z</dcterms:modified>
</cp:coreProperties>
</file>